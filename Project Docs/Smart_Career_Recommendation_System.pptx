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10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kushicarrer.pythonanywhere.com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463040"/>
            <a:ext cx="5029200" cy="5029200"/>
          </a:xfrm>
          <a:prstGeom prst="ellipse">
            <a:avLst/>
          </a:prstGeom>
          <a:solidFill>
            <a:srgbClr val="98C1D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3D5A8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914400"/>
            <a:ext cx="914400" cy="9144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6" name="Image 0" descr="/home/claude/ppt/icons/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042416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31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932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CAREER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SYSTEM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intelligent, data-driven approach to guiding students and professionals toward the right career </a:t>
            </a:r>
            <a:r>
              <a:rPr lang="en-US" sz="1600" i="1" dirty="0" smtClean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</a:p>
          <a:p>
            <a:pPr marL="0" indent="0">
              <a:buNone/>
            </a:pPr>
            <a:endParaRPr lang="en-US" sz="1600" i="1" dirty="0">
              <a:solidFill>
                <a:srgbClr val="6B7A8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r>
              <a:rPr lang="en-US" sz="16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https://kushicarrer.pythonanywhere.com/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</a:t>
            </a:r>
            <a:r>
              <a:rPr lang="en-US" sz="1300" dirty="0" smtClean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Sanjana  </a:t>
            </a:r>
            <a:r>
              <a:rPr lang="en-US" sz="130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ITI Ropar (Women)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4" name="Image 0" descr="/home/claude/ppt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4" y="748894"/>
            <a:ext cx="559613" cy="5596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554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932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career path is one of the most consequential — and most confusing — decisions a student ever makes.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685800"/>
            <a:ext cx="411480" cy="41148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685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49240" y="6400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49240" y="1033272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career options exist, with no personalized way to filter them.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754880" y="2103120"/>
            <a:ext cx="411480" cy="41148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49240" y="20574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Guidance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49240" y="2450592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counselling relies on broad advice rather than individual data.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754880" y="3520440"/>
            <a:ext cx="411480" cy="41148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49240" y="34747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Skill-Job Mismatch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867912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pick paths that don't align with their actual aptitude and interests.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754880" y="4937760"/>
            <a:ext cx="411480" cy="41148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20" name="Text 17"/>
          <p:cNvSpPr/>
          <p:nvPr/>
        </p:nvSpPr>
        <p:spPr>
          <a:xfrm>
            <a:off x="4754880" y="4937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349240" y="48920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Job Market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49240" y="5285232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New-age roles emerge faster than conventional guidance systems can track.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Career Recommendation System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932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097280" cy="0"/>
          </a:xfrm>
          <a:prstGeom prst="line">
            <a:avLst/>
          </a:prstGeom>
          <a:noFill/>
          <a:ln w="38100">
            <a:solidFill>
              <a:srgbClr val="EE6C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4F8FB"/>
          </a:solidFill>
          <a:ln/>
          <a:effectLst>
            <a:outerShdw blurRad="76200" dist="25400" dir="5400000" algn="bl" rotWithShape="0">
              <a:srgbClr val="9AAA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920240"/>
            <a:ext cx="822960" cy="82296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6" name="Image 0" descr="/home/claude/ppt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694" y="2035454"/>
            <a:ext cx="592531" cy="5925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Matching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7490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careers based on each user's skills, interests, and academic strengths.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11880" y="155448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4F8FB"/>
          </a:solidFill>
          <a:ln/>
          <a:effectLst>
            <a:outerShdw blurRad="76200" dist="25400" dir="5400000" algn="bl" rotWithShape="0">
              <a:srgbClr val="9AAAC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920240"/>
            <a:ext cx="822960" cy="82296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1" name="Image 1" descr="/home/claude/ppt/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494" y="2035454"/>
            <a:ext cx="592531" cy="59253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2971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840480" y="37490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structured data and analytics instead of generic, one-size-fits-all advice.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583680" y="155448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4F8FB"/>
          </a:solidFill>
          <a:ln/>
          <a:effectLst>
            <a:outerShdw blurRad="76200" dist="25400" dir="5400000" algn="bl" rotWithShape="0">
              <a:srgbClr val="9AAAC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0" y="1920240"/>
            <a:ext cx="822960" cy="822960"/>
          </a:xfrm>
          <a:prstGeom prst="ellipse">
            <a:avLst/>
          </a:prstGeom>
          <a:solidFill>
            <a:srgbClr val="EE6C4D"/>
          </a:solidFill>
          <a:ln/>
        </p:spPr>
      </p:sp>
      <p:pic>
        <p:nvPicPr>
          <p:cNvPr id="16" name="Image 2" descr="/home/claude/ppt/icons/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3294" y="2035454"/>
            <a:ext cx="592531" cy="59253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2971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Prediction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812280" y="37490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machine learning to predict suitable career clusters with confidence scores.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555480" y="155448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4F8FB"/>
          </a:solidFill>
          <a:ln/>
          <a:effectLst>
            <a:outerShdw blurRad="76200" dist="25400" dir="5400000" algn="bl" rotWithShape="0">
              <a:srgbClr val="9AAAC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469880" y="1920240"/>
            <a:ext cx="822960" cy="82296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21" name="Image 3" descr="/home/claude/ppt/icons/briefc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5094" y="2035454"/>
            <a:ext cx="592531" cy="59253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38360" y="2971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Alignment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784080" y="37490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recommendations aligned with real, current industry demand and roles.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Career Recommendation System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932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097280" cy="0"/>
          </a:xfrm>
          <a:prstGeom prst="line">
            <a:avLst/>
          </a:prstGeom>
          <a:noFill/>
          <a:ln w="38100">
            <a:solidFill>
              <a:srgbClr val="EE6C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194560"/>
            <a:ext cx="2377440" cy="3017520"/>
          </a:xfrm>
          <a:prstGeom prst="roundRect">
            <a:avLst>
              <a:gd name="adj" fmla="val 3846"/>
            </a:avLst>
          </a:prstGeom>
          <a:solidFill>
            <a:srgbClr val="3D5A80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514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ppt/icons/grad_s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453" y="261701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29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academic scores, skills, interests &amp; aptitude test responses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1792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072384" y="3520440"/>
            <a:ext cx="347472" cy="365760"/>
          </a:xfrm>
          <a:prstGeom prst="rightArrow">
            <a:avLst/>
          </a:prstGeom>
          <a:solidFill>
            <a:srgbClr val="EE6C4D"/>
          </a:solidFill>
          <a:ln/>
        </p:spPr>
      </p:sp>
      <p:sp>
        <p:nvSpPr>
          <p:cNvPr id="11" name="Shape 8"/>
          <p:cNvSpPr/>
          <p:nvPr/>
        </p:nvSpPr>
        <p:spPr>
          <a:xfrm>
            <a:off x="3474720" y="2194560"/>
            <a:ext cx="2377440" cy="3017520"/>
          </a:xfrm>
          <a:prstGeom prst="roundRect">
            <a:avLst>
              <a:gd name="adj" fmla="val 3846"/>
            </a:avLst>
          </a:prstGeom>
          <a:solidFill>
            <a:srgbClr val="98C1D9"/>
          </a:solidFill>
          <a:ln/>
        </p:spPr>
      </p:sp>
      <p:sp>
        <p:nvSpPr>
          <p:cNvPr id="12" name="Shape 9"/>
          <p:cNvSpPr/>
          <p:nvPr/>
        </p:nvSpPr>
        <p:spPr>
          <a:xfrm>
            <a:off x="4297680" y="2514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ppt/icons/databas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093" y="2617013"/>
            <a:ext cx="526694" cy="5266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3429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5760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and structures the profile data for analysis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456432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5907024" y="3520440"/>
            <a:ext cx="347472" cy="365760"/>
          </a:xfrm>
          <a:prstGeom prst="rightArrow">
            <a:avLst/>
          </a:prstGeom>
          <a:solidFill>
            <a:srgbClr val="EE6C4D"/>
          </a:solidFill>
          <a:ln/>
        </p:spPr>
      </p:sp>
      <p:sp>
        <p:nvSpPr>
          <p:cNvPr id="18" name="Shape 14"/>
          <p:cNvSpPr/>
          <p:nvPr/>
        </p:nvSpPr>
        <p:spPr>
          <a:xfrm>
            <a:off x="6309360" y="2194560"/>
            <a:ext cx="2377440" cy="3017520"/>
          </a:xfrm>
          <a:prstGeom prst="roundRect">
            <a:avLst>
              <a:gd name="adj" fmla="val 3846"/>
            </a:avLst>
          </a:prstGeom>
          <a:solidFill>
            <a:srgbClr val="3D5A80"/>
          </a:solidFill>
          <a:ln/>
        </p:spPr>
      </p:sp>
      <p:sp>
        <p:nvSpPr>
          <p:cNvPr id="19" name="Shape 15"/>
          <p:cNvSpPr/>
          <p:nvPr/>
        </p:nvSpPr>
        <p:spPr>
          <a:xfrm>
            <a:off x="7132320" y="2514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/home/claude/ppt/icons/cogs_sl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4733" y="2617013"/>
            <a:ext cx="526694" cy="52669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46520" y="3429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9224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profile against career patterns using ML algorithms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291072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8741664" y="3520440"/>
            <a:ext cx="347472" cy="365760"/>
          </a:xfrm>
          <a:prstGeom prst="rightArrow">
            <a:avLst/>
          </a:prstGeom>
          <a:solidFill>
            <a:srgbClr val="EE6C4D"/>
          </a:solidFill>
          <a:ln/>
        </p:spPr>
      </p:sp>
      <p:sp>
        <p:nvSpPr>
          <p:cNvPr id="25" name="Shape 20"/>
          <p:cNvSpPr/>
          <p:nvPr/>
        </p:nvSpPr>
        <p:spPr>
          <a:xfrm>
            <a:off x="9144000" y="2194560"/>
            <a:ext cx="2377440" cy="3017520"/>
          </a:xfrm>
          <a:prstGeom prst="roundRect">
            <a:avLst>
              <a:gd name="adj" fmla="val 3846"/>
            </a:avLst>
          </a:prstGeom>
          <a:solidFill>
            <a:srgbClr val="98C1D9"/>
          </a:solidFill>
          <a:ln/>
        </p:spPr>
      </p:sp>
      <p:sp>
        <p:nvSpPr>
          <p:cNvPr id="26" name="Shape 21"/>
          <p:cNvSpPr/>
          <p:nvPr/>
        </p:nvSpPr>
        <p:spPr>
          <a:xfrm>
            <a:off x="9966960" y="2514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/home/claude/ppt/icons/chart_sl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9373" y="2617013"/>
            <a:ext cx="526694" cy="52669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81160" y="3429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Results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32688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best-fit career options with match scores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9125712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Career Recommendation System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3672" cy="68580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932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097280" cy="0"/>
          </a:xfrm>
          <a:prstGeom prst="line">
            <a:avLst/>
          </a:prstGeom>
          <a:noFill/>
          <a:ln w="38100">
            <a:solidFill>
              <a:srgbClr val="EE6C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6" name="Image 0" descr="/home/claude/ppt/icons/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" y="16898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7276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Matching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1947672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score and rank career fit based on multi-factor profiles.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807208"/>
            <a:ext cx="640080" cy="640080"/>
          </a:xfrm>
          <a:prstGeom prst="ellipse">
            <a:avLst/>
          </a:prstGeom>
          <a:solidFill>
            <a:srgbClr val="EE6C4D"/>
          </a:solidFill>
          <a:ln/>
        </p:spPr>
      </p:sp>
      <p:pic>
        <p:nvPicPr>
          <p:cNvPr id="10" name="Image 1" descr="/home/claude/ppt/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" y="2896819"/>
            <a:ext cx="460858" cy="4608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77977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508760" y="31546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gap between current skills and the requirements of a chosen path.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014216"/>
            <a:ext cx="640080" cy="64008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4" name="Image 2" descr="/home/claude/ppt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" y="4103827"/>
            <a:ext cx="460858" cy="46085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98678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Career Database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508760" y="4361688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updated repository of roles, required skills, and growth outlook.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5221224"/>
            <a:ext cx="640080" cy="640080"/>
          </a:xfrm>
          <a:prstGeom prst="ellipse">
            <a:avLst/>
          </a:prstGeom>
          <a:solidFill>
            <a:srgbClr val="EE6C4D"/>
          </a:solidFill>
          <a:ln/>
        </p:spPr>
      </p:sp>
      <p:pic>
        <p:nvPicPr>
          <p:cNvPr id="18" name="Image 3" descr="/home/claude/ppt/icons/targ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91" y="5310835"/>
            <a:ext cx="460858" cy="46085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519379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Interest-Based Filtering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508760" y="5568696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suggestions using psychometric and interest-inventory inputs.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8275320" y="2560320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right recommendation at the right time can shape an entire career journey.”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8275320" y="1280160"/>
            <a:ext cx="822960" cy="822960"/>
          </a:xfrm>
          <a:prstGeom prst="ellipse">
            <a:avLst/>
          </a:prstGeom>
          <a:solidFill>
            <a:srgbClr val="EE6C4D"/>
          </a:solidFill>
          <a:ln/>
        </p:spPr>
      </p:sp>
      <p:pic>
        <p:nvPicPr>
          <p:cNvPr id="23" name="Image 4" descr="/home/claude/ppt/icons/bulb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0534" y="1395374"/>
            <a:ext cx="592531" cy="59253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Career Recommendation System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932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097280" cy="0"/>
          </a:xfrm>
          <a:prstGeom prst="line">
            <a:avLst/>
          </a:prstGeom>
          <a:noFill/>
          <a:ln w="38100">
            <a:solidFill>
              <a:srgbClr val="EE6C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463040"/>
            <a:ext cx="1463040" cy="146304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5" name="Image 0" descr="/home/claude/ppt/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7466" y="1667866"/>
            <a:ext cx="1053389" cy="1053389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955280" cy="396849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/ 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932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932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932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Libraries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932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Scikit-learn, Pandas, NumPy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932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932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HTML, CSS, JavaScript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932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932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/ Django REST 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932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932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/ MongoDB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932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932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Matplotlib, Power BI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Career Recommendation System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0876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840480"/>
          </a:xfrm>
          <a:prstGeom prst="roundRect">
            <a:avLst>
              <a:gd name="adj" fmla="val 2667"/>
            </a:avLst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23160"/>
            <a:ext cx="685800" cy="6858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6" name="Image 0" descr="/home/claude/ppt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" y="251917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918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794760"/>
            <a:ext cx="2788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records, skill assessments, interest surveys, and past career outcomes form the training dataset.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103120"/>
            <a:ext cx="3429000" cy="3840480"/>
          </a:xfrm>
          <a:prstGeom prst="roundRect">
            <a:avLst>
              <a:gd name="adj" fmla="val 2667"/>
            </a:avLst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2423160"/>
            <a:ext cx="685800" cy="685800"/>
          </a:xfrm>
          <a:prstGeom prst="ellipse">
            <a:avLst/>
          </a:prstGeom>
          <a:solidFill>
            <a:srgbClr val="EE6C4D"/>
          </a:solidFill>
          <a:ln/>
        </p:spPr>
      </p:sp>
      <p:pic>
        <p:nvPicPr>
          <p:cNvPr id="11" name="Image 1" descr="/home/claude/ppt/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172" y="251917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2918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9160" y="3794760"/>
            <a:ext cx="2788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algorithms (Decision Tree, Random Forest, KNN) learn patterns linking profiles to career fit.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2103120"/>
            <a:ext cx="3429000" cy="3840480"/>
          </a:xfrm>
          <a:prstGeom prst="roundRect">
            <a:avLst>
              <a:gd name="adj" fmla="val 2667"/>
            </a:avLst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58200" y="2423160"/>
            <a:ext cx="685800" cy="6858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6" name="Image 2" descr="/home/claude/ppt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212" y="251917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2918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58200" y="3794760"/>
            <a:ext cx="2788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and recall are measured on test data to validate recommendation quality.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Career Recommendation System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932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Impact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097280" cy="0"/>
          </a:xfrm>
          <a:prstGeom prst="line">
            <a:avLst/>
          </a:prstGeom>
          <a:noFill/>
          <a:ln w="38100">
            <a:solidFill>
              <a:srgbClr val="EE6C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5" name="Image 0" descr="/home/claude/ppt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9" y="1762049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45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by narrowing thousands of options to a focused, ranked shortlist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532888"/>
            <a:ext cx="502920" cy="502920"/>
          </a:xfrm>
          <a:prstGeom prst="ellipse">
            <a:avLst/>
          </a:prstGeom>
          <a:solidFill>
            <a:srgbClr val="EE6C4D"/>
          </a:solidFill>
          <a:ln/>
        </p:spPr>
      </p:sp>
      <p:pic>
        <p:nvPicPr>
          <p:cNvPr id="8" name="Image 1" descr="/home/claude/ppt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9" y="2603297"/>
            <a:ext cx="362102" cy="3621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48716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career-choice anxiety with data-backed, objective suggestions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3374136"/>
            <a:ext cx="502920" cy="50292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1" name="Image 2" descr="/home/claude/ppt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9" y="3444545"/>
            <a:ext cx="362102" cy="3621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328416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skill gaps early, enabling targeted upskilling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40080" y="4215384"/>
            <a:ext cx="502920" cy="502920"/>
          </a:xfrm>
          <a:prstGeom prst="ellipse">
            <a:avLst/>
          </a:prstGeom>
          <a:solidFill>
            <a:srgbClr val="EE6C4D"/>
          </a:solidFill>
          <a:ln/>
        </p:spPr>
      </p:sp>
      <p:pic>
        <p:nvPicPr>
          <p:cNvPr id="14" name="Image 3" descr="/home/claude/ppt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9" y="4285793"/>
            <a:ext cx="362102" cy="3621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4169664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personalized guidance to large numbers of students affordably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40080" y="5056632"/>
            <a:ext cx="502920" cy="50292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7" name="Image 4" descr="/home/claude/ppt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9" y="5127041"/>
            <a:ext cx="362102" cy="36210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501091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pace with an evolving job market through continuous data updates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8229600" y="16916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4F8FB"/>
          </a:solidFill>
          <a:ln/>
        </p:spPr>
      </p:sp>
      <p:sp>
        <p:nvSpPr>
          <p:cNvPr id="20" name="Text 13"/>
          <p:cNvSpPr/>
          <p:nvPr/>
        </p:nvSpPr>
        <p:spPr>
          <a:xfrm>
            <a:off x="8229600" y="17830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70%+</a:t>
            </a:r>
            <a:endParaRPr lang="en-US" sz="4000" dirty="0"/>
          </a:p>
        </p:txBody>
      </p:sp>
      <p:sp>
        <p:nvSpPr>
          <p:cNvPr id="21" name="Text 14"/>
          <p:cNvSpPr/>
          <p:nvPr/>
        </p:nvSpPr>
        <p:spPr>
          <a:xfrm>
            <a:off x="8412480" y="2697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satisfaction in career-path clarity (pilot studies)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8229600" y="37490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4F8FB"/>
          </a:solidFill>
          <a:ln/>
        </p:spPr>
      </p:sp>
      <p:sp>
        <p:nvSpPr>
          <p:cNvPr id="23" name="Text 16"/>
          <p:cNvSpPr/>
          <p:nvPr/>
        </p:nvSpPr>
        <p:spPr>
          <a:xfrm>
            <a:off x="8229600" y="3840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4000" dirty="0"/>
          </a:p>
        </p:txBody>
      </p:sp>
      <p:sp>
        <p:nvSpPr>
          <p:cNvPr id="24" name="Text 17"/>
          <p:cNvSpPr/>
          <p:nvPr/>
        </p:nvSpPr>
        <p:spPr>
          <a:xfrm>
            <a:off x="8412480" y="4754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shortlisting compared to manual counselling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Career Recommendation System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932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097280" cy="0"/>
          </a:xfrm>
          <a:prstGeom prst="line">
            <a:avLst/>
          </a:prstGeom>
          <a:noFill/>
          <a:ln w="38100">
            <a:solidFill>
              <a:srgbClr val="EE6C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4592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3D5A80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20116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ppt/icons/robot_s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694" y="2126894"/>
            <a:ext cx="592531" cy="5925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Career Counsellor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3840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 for real-time, interactive guidance.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11880" y="164592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98C1D9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20116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ppt/icons/chart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494" y="2126894"/>
            <a:ext cx="592531" cy="59253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3063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Job Market Feed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840480" y="3840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integration with job portals to reflect current demand.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583680" y="164592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3D5A80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0" y="20116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ppt/icons/grad_sl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3294" y="2126894"/>
            <a:ext cx="592531" cy="59253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3063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Matching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812280" y="3840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users with mentors and alumni in recommended fields.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555480" y="164592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98C1D9"/>
          </a:solidFill>
          <a:ln/>
        </p:spPr>
      </p:sp>
      <p:sp>
        <p:nvSpPr>
          <p:cNvPr id="20" name="Shape 15"/>
          <p:cNvSpPr/>
          <p:nvPr/>
        </p:nvSpPr>
        <p:spPr>
          <a:xfrm>
            <a:off x="10469880" y="20116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ppt/icons/rocket_sl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5094" y="2126894"/>
            <a:ext cx="592531" cy="59253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38360" y="3063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784080" y="3840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access through a dedicated mobile application.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Career Recommendation System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029200" cy="5029200"/>
          </a:xfrm>
          <a:prstGeom prst="ellipse">
            <a:avLst/>
          </a:prstGeom>
          <a:solidFill>
            <a:srgbClr val="98C1D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3D5A8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554480"/>
            <a:ext cx="1371600" cy="13716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5" name="Image 0" descr="/home/claude/ppt/icons/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984" y="1746504"/>
            <a:ext cx="987552" cy="9875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932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Sanjana  </a:t>
            </a:r>
            <a:r>
              <a:rPr lang="en-US" sz="1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ITI Ropar (</a:t>
            </a:r>
            <a:r>
              <a:rPr lang="en-US" sz="1200" dirty="0" smtClean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585</Words>
  <Application>Microsoft Office PowerPoint</Application>
  <PresentationFormat>Custom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4</cp:revision>
  <dcterms:created xsi:type="dcterms:W3CDTF">2026-07-10T04:01:07Z</dcterms:created>
  <dcterms:modified xsi:type="dcterms:W3CDTF">2026-07-10T05:50:16Z</dcterms:modified>
</cp:coreProperties>
</file>